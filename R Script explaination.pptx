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7" r:id="rId5"/>
    <p:sldId id="317" r:id="rId6"/>
    <p:sldId id="288" r:id="rId7"/>
    <p:sldId id="299" r:id="rId8"/>
    <p:sldId id="300" r:id="rId9"/>
    <p:sldId id="302" r:id="rId10"/>
    <p:sldId id="301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32" d="100"/>
          <a:sy n="32" d="100"/>
        </p:scale>
        <p:origin x="1124" y="3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204" y="1846436"/>
            <a:ext cx="10227592" cy="453573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product reviews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text mining and machine learning techniques. The aim is to classify customer reviews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or neutral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based on the text content.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 data is pre-processed using text cleaning techniques such as case normalization, removal of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punctuation, and stemming. The cleaned text is converted into numerical features using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Term Matrix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trained on this data to predict sentiment, and model performance is evaluated using a train-test split.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usability, the trained model is implemented through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Shiny web application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users to input a review and obtain real-time sentiment predictions.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9ED3-140D-92BE-B2F6-0AC5E143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4808"/>
            <a:ext cx="9779183" cy="174441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2F96-F8E7-8E32-DE96-F3ED88E0A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9829"/>
            <a:ext cx="11244943" cy="5214257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Dataset-SA.csv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contains customer product review data for sentiment analysis.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rows: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205,052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Columns in the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product_price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and Independent Variables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 (Target):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(negative, neutral, positive)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 (Features):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88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143" y="478971"/>
            <a:ext cx="10896600" cy="578031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&amp; loading packages: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Text mining (corpus, cleaning text)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SnowballC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stemming (reducing words to root form)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classification model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caret →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and evaluation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rpart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model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rpart.plot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decision trees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readr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CSV files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shiny →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interactive web app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7FF3593-D679-1C64-2C9A-7E520EF5B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43" y="996572"/>
            <a:ext cx="3229426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F514A1-E2DE-E1F1-B8FC-77D9939F2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028" y="304800"/>
            <a:ext cx="11070772" cy="6074228"/>
          </a:xfrm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Reading and Exploring Dataset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CSV file into 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View() opens the dataset like Excel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head() →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6 rows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dim() →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rows &amp; columns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summary() →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data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A black and white text&#10;&#10;AI-generated content may be incorrect.">
            <a:extLst>
              <a:ext uri="{FF2B5EF4-FFF2-40B4-BE49-F238E27FC236}">
                <a16:creationId xmlns:a16="http://schemas.microsoft.com/office/drawing/2014/main" id="{E84557D8-4914-8BD9-B97B-1D4D538FD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8" y="1123229"/>
            <a:ext cx="4982270" cy="562053"/>
          </a:xfrm>
          <a:prstGeom prst="rect">
            <a:avLst/>
          </a:prstGeom>
        </p:spPr>
      </p:pic>
      <p:pic>
        <p:nvPicPr>
          <p:cNvPr id="18" name="Picture 1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7BE1CF9-A34A-5F4A-573B-FF52F47C7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98939"/>
            <a:ext cx="253400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2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387532-5979-3A0A-5D36-311BE5D1D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343" y="381000"/>
            <a:ext cx="11234057" cy="5878286"/>
          </a:xfrm>
        </p:spPr>
        <p:txBody>
          <a:bodyPr/>
          <a:lstStyle/>
          <a:p>
            <a:pPr marL="514350" indent="-514350">
              <a:buAutoNum type="arabicPeriod" startAt="3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Required Columns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only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unnecessary columns.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Reduce data size (to avoid slow system)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set.seed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same random result every time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data to 8000 rows to reduce computation time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selects 8000 rows if dataset is larger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F0E8D7-3D2E-A551-2AF9-2D948EE33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090584"/>
            <a:ext cx="7135221" cy="409632"/>
          </a:xfrm>
          <a:prstGeom prst="rect">
            <a:avLst/>
          </a:prstGeom>
        </p:spPr>
      </p:pic>
      <p:pic>
        <p:nvPicPr>
          <p:cNvPr id="16" name="Picture 15" descr="A close up of text&#10;&#10;AI-generated content may be incorrect.">
            <a:extLst>
              <a:ext uri="{FF2B5EF4-FFF2-40B4-BE49-F238E27FC236}">
                <a16:creationId xmlns:a16="http://schemas.microsoft.com/office/drawing/2014/main" id="{B55CF292-C287-FDCE-1DB5-6CE598E5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9" y="3147973"/>
            <a:ext cx="2162477" cy="562053"/>
          </a:xfrm>
          <a:prstGeom prst="rect">
            <a:avLst/>
          </a:prstGeom>
        </p:spPr>
      </p:pic>
      <p:pic>
        <p:nvPicPr>
          <p:cNvPr id="20" name="Picture 1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AC13403-5068-E870-389B-C03C725E4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429" y="4663100"/>
            <a:ext cx="5772956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4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08512C-5A55-E95E-B15F-85301D4FB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313" y="272143"/>
            <a:ext cx="11386457" cy="6237513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Combining Review and Summary Text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+ Summary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text column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sentiment understanding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only final text and sentiment label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Removing Missing Values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Deletes rows with missing text or sentiment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89D29-B754-174F-9632-B693ED44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3" y="864415"/>
            <a:ext cx="9840687" cy="485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36AFB0-F385-84EB-4CD5-8A06AD2D4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3" y="2290742"/>
            <a:ext cx="5753903" cy="295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30CC79-E7CB-6BB9-5AAB-BADE631B1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13" y="3945326"/>
            <a:ext cx="8783276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2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7D2E76-6E8C-E32C-3E38-70E048E34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771" y="500743"/>
            <a:ext cx="11136086" cy="5943600"/>
          </a:xfrm>
        </p:spPr>
        <p:txBody>
          <a:bodyPr/>
          <a:lstStyle/>
          <a:p>
            <a:r>
              <a:rPr lang="en-US" sz="2400" b="1" dirty="0"/>
              <a:t>7. Converting Sentiment into Factor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sentiment into categorical variable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proper order for classification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Creating Text Corpus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into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corpus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Corpus = collection of documents</a:t>
            </a:r>
          </a:p>
          <a:p>
            <a:endParaRPr lang="en-US" sz="1800" dirty="0"/>
          </a:p>
          <a:p>
            <a:endParaRPr lang="en-US" sz="2400" b="1" dirty="0"/>
          </a:p>
        </p:txBody>
      </p:sp>
      <p:pic>
        <p:nvPicPr>
          <p:cNvPr id="6" name="Picture 5" descr="A close-up of words&#10;&#10;AI-generated content may be incorrect.">
            <a:extLst>
              <a:ext uri="{FF2B5EF4-FFF2-40B4-BE49-F238E27FC236}">
                <a16:creationId xmlns:a16="http://schemas.microsoft.com/office/drawing/2014/main" id="{6C2C22A4-AEA2-E6EF-086A-07835A37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" y="1051751"/>
            <a:ext cx="5963482" cy="1162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4974CA-5AE4-12F3-CF85-14425C9B2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1" y="4224880"/>
            <a:ext cx="582058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2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6CF4E3A-C6E7-9D43-2753-C86C1F290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657" y="419100"/>
            <a:ext cx="11364686" cy="6019800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Text Pre-processing (Cleaning)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to lowercase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numbers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punctuation marks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common words like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the, is, and</a:t>
            </a:r>
          </a:p>
          <a:p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extra spaces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1E9B58-0D51-BC11-A98A-D1593AEC3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1178960"/>
            <a:ext cx="6430272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53589A-BBA6-2237-8435-A117D6A35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57" y="2220541"/>
            <a:ext cx="4648849" cy="466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59432B-10E9-9343-1B40-E09C875B2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57" y="3342472"/>
            <a:ext cx="5182323" cy="400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5C5326-340B-68C0-887E-114316FB6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57" y="4498984"/>
            <a:ext cx="6963747" cy="3238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025A76-8419-1594-4249-62C3F199E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453" y="5579285"/>
            <a:ext cx="4858428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3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E15AFD-3D92-40CB-5F91-10F68CB4E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86" y="359229"/>
            <a:ext cx="11201400" cy="6030685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words to root form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liked → like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Creating Document Term Matrix (DTM)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into numerical form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= documents, Columns = words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very rare words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only useful terms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51EDD-4F10-0040-FC96-E01016836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468086"/>
            <a:ext cx="4486901" cy="419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2720AB-EDC0-5E2F-31B8-E10A3A66D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2860331"/>
            <a:ext cx="4039164" cy="40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E43A04-F0D8-C140-EEF8-BD6B0369F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4463174"/>
            <a:ext cx="5039428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2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8154FF-D270-E90F-61CF-5ABA81E06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342" y="446313"/>
            <a:ext cx="11375571" cy="6204858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Preparing Final Dataset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DTM into a data frame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sentiment column to features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Train-Test Split (70-30)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data while maintaining class balance</a:t>
            </a:r>
            <a:endParaRPr lang="en-US" sz="1800" dirty="0"/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training data (to build the model)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testing data (to evaluate the model)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52636A-D74F-5C90-5D5C-CB0ACF73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141609"/>
            <a:ext cx="4744112" cy="438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8C30E3-DF79-0EBC-3EC0-9325CAE7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3" y="2411158"/>
            <a:ext cx="6716062" cy="381053"/>
          </a:xfrm>
          <a:prstGeom prst="rect">
            <a:avLst/>
          </a:prstGeom>
        </p:spPr>
      </p:pic>
      <p:pic>
        <p:nvPicPr>
          <p:cNvPr id="10" name="Picture 9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DE6DB763-6EDC-6438-A911-B217133AA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43" y="4066397"/>
            <a:ext cx="4534533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35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D1F786-1C25-D72D-609E-7EAD36894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657" y="359229"/>
            <a:ext cx="11266714" cy="6030685"/>
          </a:xfrm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→ training data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→ testing data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class distribution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13.Random Forest Model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Random Forest classifier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ntree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 → number of trees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B31F1C1-1780-B6AC-30FF-638E0DF8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359229"/>
            <a:ext cx="4582164" cy="552527"/>
          </a:xfrm>
          <a:prstGeom prst="rect">
            <a:avLst/>
          </a:prstGeom>
        </p:spPr>
      </p:pic>
      <p:pic>
        <p:nvPicPr>
          <p:cNvPr id="11" name="Picture 10" descr="A black and blue text&#10;&#10;AI-generated content may be incorrect.">
            <a:extLst>
              <a:ext uri="{FF2B5EF4-FFF2-40B4-BE49-F238E27FC236}">
                <a16:creationId xmlns:a16="http://schemas.microsoft.com/office/drawing/2014/main" id="{16A80FA3-7F30-BC44-921D-FEB6190E7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9" y="1955298"/>
            <a:ext cx="2819794" cy="704948"/>
          </a:xfrm>
          <a:prstGeom prst="rect">
            <a:avLst/>
          </a:prstGeom>
        </p:spPr>
      </p:pic>
      <p:pic>
        <p:nvPicPr>
          <p:cNvPr id="13" name="Picture 1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A15B3CE-20FD-A7FD-50A4-9D711B92D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29" y="4065723"/>
            <a:ext cx="347711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38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FB2F0E-A664-A96E-5389-DC40C62CF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9" y="391885"/>
            <a:ext cx="11049000" cy="610688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Model Prediction &amp; Accuracy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sentiment for test data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accuracy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Prints accuracy result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Decision Tree Model (Visualization)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decision tree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decision tree graph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A6376-8EA0-C182-F128-647EF4E7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906212"/>
            <a:ext cx="5706271" cy="342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4E8E7-B25A-1F96-2BF1-E82A4F671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1" y="2103563"/>
            <a:ext cx="5601482" cy="304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5E656E-DD9D-572D-E257-47E09C50B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71" y="3098399"/>
            <a:ext cx="4086795" cy="400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5BE1AB-17A3-6D12-4672-F4CE29BDE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29" y="4788986"/>
            <a:ext cx="7925906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0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CE5C6C-D630-B2A2-BC9A-8704797C5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59229"/>
            <a:ext cx="11277600" cy="5976257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Feature Extraction Function for New Text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vocabulary used during training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to convert new user text into model-ready format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function: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cleaning steps as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dictionary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into numeric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793F9-5CC2-D148-2D47-BEEC0603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25284"/>
            <a:ext cx="2772162" cy="362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033370-F8E0-70AB-D558-AE4664968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53340"/>
            <a:ext cx="4915586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19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98F11-F89E-05C0-B53C-6226F0844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29" y="326571"/>
            <a:ext cx="11212285" cy="5987143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Shiny UI Code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layout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Shiny web application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fluidPage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the page adjusts automatically to screen size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top of the app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the page into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parts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 (left)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panel (right)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FBBA8-CA6B-307E-CE67-AC13D4A72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168817"/>
            <a:ext cx="2152950" cy="333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98C21F-550E-2FFE-FF52-EFBD7DCCC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90" y="2736371"/>
            <a:ext cx="6630325" cy="362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387A20-768D-B109-CC22-566EFC959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3846672"/>
            <a:ext cx="1733792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31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C024EF-BA75-9BB1-6979-52A2C509C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228" y="402771"/>
            <a:ext cx="11255829" cy="6052457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Sidebar Panel (User Input Area)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side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app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user input and model information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heading for the input section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box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user can type a review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user_text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→ input ID used in server code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→ default text shown in the box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= 5 → height of the text box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6CA99-ACFF-C258-112B-20B0E53A4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1270888"/>
            <a:ext cx="1648055" cy="266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A7FCB-E41E-1659-F5DA-FDBDCECF7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8" y="2570366"/>
            <a:ext cx="3667637" cy="323895"/>
          </a:xfrm>
          <a:prstGeom prst="rect">
            <a:avLst/>
          </a:prstGeom>
        </p:spPr>
      </p:pic>
      <p:pic>
        <p:nvPicPr>
          <p:cNvPr id="11" name="Picture 10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41D58F9-C7B3-4D33-F53C-7C88B7799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8" y="3608437"/>
            <a:ext cx="793543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00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CB6158-0E9F-C7B7-9CDE-3F2AE76CD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29" y="380999"/>
            <a:ext cx="11212285" cy="6128657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clicked, prediction is triggered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blank space for better layout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model details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6D344-A9A0-B7A1-E400-9F949BCC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575053"/>
            <a:ext cx="5820587" cy="238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787115-5876-8491-56C2-343CE0FB5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9" y="2157394"/>
            <a:ext cx="1457528" cy="257211"/>
          </a:xfrm>
          <a:prstGeom prst="rect">
            <a:avLst/>
          </a:prstGeom>
        </p:spPr>
      </p:pic>
      <p:pic>
        <p:nvPicPr>
          <p:cNvPr id="10" name="Picture 9" descr="A close up of a text&#10;&#10;AI-generated content may be incorrect.">
            <a:extLst>
              <a:ext uri="{FF2B5EF4-FFF2-40B4-BE49-F238E27FC236}">
                <a16:creationId xmlns:a16="http://schemas.microsoft.com/office/drawing/2014/main" id="{08D21F71-D0CD-C598-026C-039D5EA2C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429" y="3394696"/>
            <a:ext cx="387721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74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5A4D48-FD88-2518-3C50-B8B40EB37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" y="402771"/>
            <a:ext cx="11114315" cy="5965372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 Main Panel (Output Area)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side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app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display results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sentiment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entered review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plot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how sentiment decisions are made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2ADEA0-A0C5-33E7-AF71-94D1BF410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00" y="1167798"/>
            <a:ext cx="1562318" cy="219106"/>
          </a:xfrm>
          <a:prstGeom prst="rect">
            <a:avLst/>
          </a:prstGeom>
        </p:spPr>
      </p:pic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21A431D6-A793-F6EE-9370-E5CCD938D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2637774"/>
            <a:ext cx="4563112" cy="514422"/>
          </a:xfrm>
          <a:prstGeom prst="rect">
            <a:avLst/>
          </a:prstGeom>
        </p:spPr>
      </p:pic>
      <p:pic>
        <p:nvPicPr>
          <p:cNvPr id="11" name="Picture 10" descr="A close up of words&#10;&#10;AI-generated content may be incorrect.">
            <a:extLst>
              <a:ext uri="{FF2B5EF4-FFF2-40B4-BE49-F238E27FC236}">
                <a16:creationId xmlns:a16="http://schemas.microsoft.com/office/drawing/2014/main" id="{FDE9E24F-D7A2-0B5F-2853-1CEFBAE8A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00" y="4170587"/>
            <a:ext cx="497274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99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2C435B-CE91-7492-6F64-7D5F0A97A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457" y="435429"/>
            <a:ext cx="11386457" cy="600891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Model Information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output text to show model details in the UI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training records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testing records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(rounded)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information appears in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 panel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8A7496-8ABC-AF33-3B7D-7073B9DDD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013709"/>
            <a:ext cx="4115374" cy="323895"/>
          </a:xfrm>
          <a:prstGeom prst="rect">
            <a:avLst/>
          </a:prstGeom>
        </p:spPr>
      </p:pic>
      <p:pic>
        <p:nvPicPr>
          <p:cNvPr id="8" name="Picture 7" descr="A close up of text&#10;&#10;AI-generated content may be incorrect.">
            <a:extLst>
              <a:ext uri="{FF2B5EF4-FFF2-40B4-BE49-F238E27FC236}">
                <a16:creationId xmlns:a16="http://schemas.microsoft.com/office/drawing/2014/main" id="{F81CFB30-D85A-4C3F-7C76-50A5C6FF4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57" y="2397352"/>
            <a:ext cx="471553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27C57-6143-FFD8-65E6-660A075D5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743" y="402770"/>
            <a:ext cx="11146971" cy="6161315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Predicting Sentiment on Button Click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code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when the Predict button is clicked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text entered by the user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the input is empty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an error message if no text is entered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user’s text into numerical features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same preprocessing as training data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246280-5E7E-EAC4-AA73-34602A02B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3" y="1254554"/>
            <a:ext cx="4010585" cy="342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3AEE1B-45B2-6AC7-21B2-B08293560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3" y="2449285"/>
            <a:ext cx="2724530" cy="323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8F60F3-E0BC-2EFD-84DB-67910ADA3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43" y="3453489"/>
            <a:ext cx="3581900" cy="342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D12615-487E-0B61-4543-DF35FD1EB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43" y="4629167"/>
            <a:ext cx="7964011" cy="276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AB6693-CA25-8DF2-139F-BEC575F4F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43" y="5652424"/>
            <a:ext cx="3553321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044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F70A92-7D59-6C4F-D06B-7B378C14B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00743"/>
            <a:ext cx="11016343" cy="6117771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sentiment using the trained Random Forest model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predicted sentiment in the app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Displaying Decision Tree Plot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plot output in the UI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decision tree model for explanation purposes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91CC1-6881-2278-3678-A54219F0D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598714"/>
            <a:ext cx="5068007" cy="304843"/>
          </a:xfrm>
          <a:prstGeom prst="rect">
            <a:avLst/>
          </a:prstGeom>
        </p:spPr>
      </p:pic>
      <p:pic>
        <p:nvPicPr>
          <p:cNvPr id="8" name="Picture 7" descr="A close up of a word&#10;&#10;AI-generated content may be incorrect.">
            <a:extLst>
              <a:ext uri="{FF2B5EF4-FFF2-40B4-BE49-F238E27FC236}">
                <a16:creationId xmlns:a16="http://schemas.microsoft.com/office/drawing/2014/main" id="{C15C4A08-1BCD-A4DB-A1BE-360B6BFA6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910405"/>
            <a:ext cx="6144482" cy="533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A4CB2F-6ED5-7259-CDD5-A312FDC5B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4197774"/>
            <a:ext cx="3905795" cy="333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05251F-1D95-75EB-FC27-ADDA7DC03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38" y="5272720"/>
            <a:ext cx="7925906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5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14F64E-9918-38E9-896B-4DA11C3C2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457" y="478971"/>
            <a:ext cx="10776857" cy="5910943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 Running the Shiny App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UI and server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Launches the Shiny web application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2F8D8-9D7E-4C60-83B6-C78AF1172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1366130"/>
            <a:ext cx="4172532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7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5869</TotalTime>
  <Words>976</Words>
  <Application>Microsoft Office PowerPoint</Application>
  <PresentationFormat>Widescreen</PresentationFormat>
  <Paragraphs>320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Tenorite</vt:lpstr>
      <vt:lpstr>Times New Roman</vt:lpstr>
      <vt:lpstr>Custom</vt:lpstr>
      <vt:lpstr>Introduction </vt:lpstr>
      <vt:lpstr>Dataset Description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Anshika Gupta</dc:creator>
  <cp:lastModifiedBy>Anshika Gupta</cp:lastModifiedBy>
  <cp:revision>3</cp:revision>
  <dcterms:created xsi:type="dcterms:W3CDTF">2025-12-10T10:40:20Z</dcterms:created>
  <dcterms:modified xsi:type="dcterms:W3CDTF">2026-02-05T07:51:50Z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